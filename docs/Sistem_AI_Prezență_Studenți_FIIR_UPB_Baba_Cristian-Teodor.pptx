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4"/>
  </p:notesMasterIdLst>
  <p:sldIdLst>
    <p:sldId id="256" r:id="rId2"/>
    <p:sldId id="258" r:id="rId3"/>
    <p:sldId id="262" r:id="rId4"/>
    <p:sldId id="264" r:id="rId5"/>
    <p:sldId id="313" r:id="rId6"/>
    <p:sldId id="312" r:id="rId7"/>
    <p:sldId id="316" r:id="rId8"/>
    <p:sldId id="314" r:id="rId9"/>
    <p:sldId id="315" r:id="rId10"/>
    <p:sldId id="317" r:id="rId11"/>
    <p:sldId id="318" r:id="rId12"/>
    <p:sldId id="319" r:id="rId13"/>
  </p:sldIdLst>
  <p:sldSz cx="9144000" cy="5143500" type="screen16x9"/>
  <p:notesSz cx="6858000" cy="9144000"/>
  <p:embeddedFontLst>
    <p:embeddedFont>
      <p:font typeface="Albert Sans" panose="020B0604020202020204" charset="0"/>
      <p:regular r:id="rId15"/>
      <p:bold r:id="rId16"/>
      <p:italic r:id="rId17"/>
      <p:boldItalic r:id="rId18"/>
    </p:embeddedFont>
    <p:embeddedFont>
      <p:font typeface="Alexandria Medium" panose="020B0604020202020204" charset="-78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098CAA4-5D30-40FF-BDAE-B250A0CEFE37}">
  <a:tblStyle styleId="{E098CAA4-5D30-40FF-BDAE-B250A0CEFE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62216D8-4695-4A0C-9BF4-C7DA5BCBBA3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558abb5f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558abb5fb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58abb5fb3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58abb5fb3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5703cb3a7b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5703cb3a7b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359DB17E-5BB3-FFC9-A391-82F78EA12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58abb5fb3_0_46:notes">
            <a:extLst>
              <a:ext uri="{FF2B5EF4-FFF2-40B4-BE49-F238E27FC236}">
                <a16:creationId xmlns:a16="http://schemas.microsoft.com/office/drawing/2014/main" id="{6B95F6C7-3DAE-96EB-6AF6-4D20199F85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58abb5fb3_0_46:notes">
            <a:extLst>
              <a:ext uri="{FF2B5EF4-FFF2-40B4-BE49-F238E27FC236}">
                <a16:creationId xmlns:a16="http://schemas.microsoft.com/office/drawing/2014/main" id="{2F5D13E9-13B6-2212-7CA1-1FA1CB9AD9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8129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84CE6771-8031-A896-0DE4-175A0CE5F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5703cb3a7b_0_64:notes">
            <a:extLst>
              <a:ext uri="{FF2B5EF4-FFF2-40B4-BE49-F238E27FC236}">
                <a16:creationId xmlns:a16="http://schemas.microsoft.com/office/drawing/2014/main" id="{F2ED0980-9730-88DC-59A1-B14BAC2AF6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5703cb3a7b_0_64:notes">
            <a:extLst>
              <a:ext uri="{FF2B5EF4-FFF2-40B4-BE49-F238E27FC236}">
                <a16:creationId xmlns:a16="http://schemas.microsoft.com/office/drawing/2014/main" id="{2581D918-FE29-25AF-D0FA-5FEEC66D9B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44032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51619620-BE75-7DCB-C26E-8BCEAE889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58abb5fb3_0_46:notes">
            <a:extLst>
              <a:ext uri="{FF2B5EF4-FFF2-40B4-BE49-F238E27FC236}">
                <a16:creationId xmlns:a16="http://schemas.microsoft.com/office/drawing/2014/main" id="{C2533CE5-C996-F6F0-7FAA-116098A804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58abb5fb3_0_46:notes">
            <a:extLst>
              <a:ext uri="{FF2B5EF4-FFF2-40B4-BE49-F238E27FC236}">
                <a16:creationId xmlns:a16="http://schemas.microsoft.com/office/drawing/2014/main" id="{A2CD1AA5-5D22-D506-0E4B-DC13A09E23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42143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BEB86548-AFE1-7654-F8B9-482999633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58abb5fb3_0_46:notes">
            <a:extLst>
              <a:ext uri="{FF2B5EF4-FFF2-40B4-BE49-F238E27FC236}">
                <a16:creationId xmlns:a16="http://schemas.microsoft.com/office/drawing/2014/main" id="{7BD97170-F624-493A-96FB-9ABDD8BBF6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58abb5fb3_0_46:notes">
            <a:extLst>
              <a:ext uri="{FF2B5EF4-FFF2-40B4-BE49-F238E27FC236}">
                <a16:creationId xmlns:a16="http://schemas.microsoft.com/office/drawing/2014/main" id="{E0A64099-3CB0-EB4A-F6BF-98A53DC669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04855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F4E12985-6E4C-BC30-AE86-65CEF8E13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5703cb3a7b_0_64:notes">
            <a:extLst>
              <a:ext uri="{FF2B5EF4-FFF2-40B4-BE49-F238E27FC236}">
                <a16:creationId xmlns:a16="http://schemas.microsoft.com/office/drawing/2014/main" id="{9C2BA564-D229-CF49-EDE6-6C5A0F47AB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5703cb3a7b_0_64:notes">
            <a:extLst>
              <a:ext uri="{FF2B5EF4-FFF2-40B4-BE49-F238E27FC236}">
                <a16:creationId xmlns:a16="http://schemas.microsoft.com/office/drawing/2014/main" id="{35C7571D-DFC6-6748-9DA4-93E4F27173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83266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E317B2A7-46CE-E08A-EAA7-3D52AECFE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5703cb3a7b_0_64:notes">
            <a:extLst>
              <a:ext uri="{FF2B5EF4-FFF2-40B4-BE49-F238E27FC236}">
                <a16:creationId xmlns:a16="http://schemas.microsoft.com/office/drawing/2014/main" id="{164332CF-20A4-FB69-7A39-C0E022DACB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5703cb3a7b_0_64:notes">
            <a:extLst>
              <a:ext uri="{FF2B5EF4-FFF2-40B4-BE49-F238E27FC236}">
                <a16:creationId xmlns:a16="http://schemas.microsoft.com/office/drawing/2014/main" id="{464EDC42-10AE-8A87-F9CD-C9893A2E28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1885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703ABDE8-6B3E-0497-D66B-987DA7A22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5703cb3a7b_0_64:notes">
            <a:extLst>
              <a:ext uri="{FF2B5EF4-FFF2-40B4-BE49-F238E27FC236}">
                <a16:creationId xmlns:a16="http://schemas.microsoft.com/office/drawing/2014/main" id="{0C3D8E30-68B5-49A2-82D2-954D83925D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5703cb3a7b_0_64:notes">
            <a:extLst>
              <a:ext uri="{FF2B5EF4-FFF2-40B4-BE49-F238E27FC236}">
                <a16:creationId xmlns:a16="http://schemas.microsoft.com/office/drawing/2014/main" id="{2BE7C57B-C1A8-6888-4EBF-B76ECDFFAC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53690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278EFFA1-A134-7CF9-7B01-6908F5919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5703cb3a7b_0_64:notes">
            <a:extLst>
              <a:ext uri="{FF2B5EF4-FFF2-40B4-BE49-F238E27FC236}">
                <a16:creationId xmlns:a16="http://schemas.microsoft.com/office/drawing/2014/main" id="{C4D2085B-B219-4BD5-98B4-129B5CC51B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5703cb3a7b_0_64:notes">
            <a:extLst>
              <a:ext uri="{FF2B5EF4-FFF2-40B4-BE49-F238E27FC236}">
                <a16:creationId xmlns:a16="http://schemas.microsoft.com/office/drawing/2014/main" id="{820B9283-0D83-13A6-9F2A-496583E68C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8813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-19689" t="41478" r="19690" b="227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1750" y="1958600"/>
            <a:ext cx="4280100" cy="26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604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5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1189750" y="1742900"/>
            <a:ext cx="2907600" cy="21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5046650" y="1742900"/>
            <a:ext cx="2907600" cy="21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title" hasCustomPrompt="1"/>
          </p:nvPr>
        </p:nvSpPr>
        <p:spPr>
          <a:xfrm>
            <a:off x="1070650" y="13673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1609075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3" hasCustomPrompt="1"/>
          </p:nvPr>
        </p:nvSpPr>
        <p:spPr>
          <a:xfrm>
            <a:off x="1070650" y="21035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4"/>
          </p:nvPr>
        </p:nvSpPr>
        <p:spPr>
          <a:xfrm>
            <a:off x="1609075" y="2103524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5" hasCustomPrompt="1"/>
          </p:nvPr>
        </p:nvSpPr>
        <p:spPr>
          <a:xfrm>
            <a:off x="1070650" y="2839750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6"/>
          </p:nvPr>
        </p:nvSpPr>
        <p:spPr>
          <a:xfrm>
            <a:off x="1609075" y="2839748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7" hasCustomPrompt="1"/>
          </p:nvPr>
        </p:nvSpPr>
        <p:spPr>
          <a:xfrm>
            <a:off x="1070650" y="3575950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8"/>
          </p:nvPr>
        </p:nvSpPr>
        <p:spPr>
          <a:xfrm>
            <a:off x="1609075" y="3575948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9" hasCustomPrompt="1"/>
          </p:nvPr>
        </p:nvSpPr>
        <p:spPr>
          <a:xfrm>
            <a:off x="4927449" y="13673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3"/>
          </p:nvPr>
        </p:nvSpPr>
        <p:spPr>
          <a:xfrm>
            <a:off x="5465950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14" hasCustomPrompt="1"/>
          </p:nvPr>
        </p:nvSpPr>
        <p:spPr>
          <a:xfrm>
            <a:off x="4927449" y="2103522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5"/>
          </p:nvPr>
        </p:nvSpPr>
        <p:spPr>
          <a:xfrm>
            <a:off x="5465950" y="2103519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16" hasCustomPrompt="1"/>
          </p:nvPr>
        </p:nvSpPr>
        <p:spPr>
          <a:xfrm>
            <a:off x="4927449" y="2839728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7"/>
          </p:nvPr>
        </p:nvSpPr>
        <p:spPr>
          <a:xfrm>
            <a:off x="5465950" y="2839721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18" hasCustomPrompt="1"/>
          </p:nvPr>
        </p:nvSpPr>
        <p:spPr>
          <a:xfrm>
            <a:off x="4927449" y="35759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9"/>
          </p:nvPr>
        </p:nvSpPr>
        <p:spPr>
          <a:xfrm>
            <a:off x="5465950" y="3575916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/>
          <p:cNvPicPr preferRelativeResize="0"/>
          <p:nvPr/>
        </p:nvPicPr>
        <p:blipFill rotWithShape="1">
          <a:blip r:embed="rId2">
            <a:alphaModFix/>
          </a:blip>
          <a:srcRect l="-50000" t="49600" r="50000" b="-584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>
            <a:spLocks noGrp="1"/>
          </p:cNvSpPr>
          <p:nvPr>
            <p:ph type="subTitle" idx="1"/>
          </p:nvPr>
        </p:nvSpPr>
        <p:spPr>
          <a:xfrm>
            <a:off x="715100" y="2046500"/>
            <a:ext cx="59301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2"/>
          </p:nvPr>
        </p:nvSpPr>
        <p:spPr>
          <a:xfrm>
            <a:off x="715100" y="3299000"/>
            <a:ext cx="59301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ubTitle" idx="3"/>
          </p:nvPr>
        </p:nvSpPr>
        <p:spPr>
          <a:xfrm>
            <a:off x="715100" y="1666700"/>
            <a:ext cx="59301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ubTitle" idx="4"/>
          </p:nvPr>
        </p:nvSpPr>
        <p:spPr>
          <a:xfrm>
            <a:off x="715100" y="2919200"/>
            <a:ext cx="59301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0"/>
          <p:cNvPicPr preferRelativeResize="0"/>
          <p:nvPr/>
        </p:nvPicPr>
        <p:blipFill rotWithShape="1">
          <a:blip r:embed="rId2">
            <a:alphaModFix/>
          </a:blip>
          <a:srcRect l="-6643" t="13471" r="27548" b="-35825"/>
          <a:stretch/>
        </p:blipFill>
        <p:spPr>
          <a:xfrm flipH="1">
            <a:off x="-10680" y="-2437"/>
            <a:ext cx="332129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 flipH="1">
            <a:off x="-10680" y="-2437"/>
            <a:ext cx="9144080" cy="51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1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1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83700"/>
            <a:ext cx="7713900" cy="3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8" r:id="rId3"/>
    <p:sldLayoutId id="2147483659" r:id="rId4"/>
    <p:sldLayoutId id="2147483665" r:id="rId5"/>
    <p:sldLayoutId id="2147483676" r:id="rId6"/>
    <p:sldLayoutId id="214748367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v-foundation.org/openaccess/content_cvpr_2015/papers/Schroff_FaceNet_A_Unified_2015_CVPR_paper.pdf?utm_source=chatgpt.com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chat.openai.com/" TargetMode="External"/><Relationship Id="rId5" Type="http://schemas.openxmlformats.org/officeDocument/2006/relationships/hyperlink" Target="https://www.geeksforgeeks.org/facenet-using-facial-recognition-system/" TargetMode="External"/><Relationship Id="rId4" Type="http://schemas.openxmlformats.org/officeDocument/2006/relationships/hyperlink" Target="https://www.cs.toronto.edu/~ranzato/publications/taigman_cvpr14.pdf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>
            <a:spLocks noGrp="1"/>
          </p:cNvSpPr>
          <p:nvPr>
            <p:ph type="ctrTitle"/>
          </p:nvPr>
        </p:nvSpPr>
        <p:spPr>
          <a:xfrm>
            <a:off x="711750" y="1958600"/>
            <a:ext cx="7720650" cy="8618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sz="2400" dirty="0"/>
              <a:t>Sistem AI de analiză automată a prezenței studenților pe bază de recunoaștere facială</a:t>
            </a:r>
            <a:endParaRPr sz="2400" dirty="0"/>
          </a:p>
        </p:txBody>
      </p:sp>
      <p:sp>
        <p:nvSpPr>
          <p:cNvPr id="191" name="Google Shape;191;p35"/>
          <p:cNvSpPr txBox="1">
            <a:spLocks noGrp="1"/>
          </p:cNvSpPr>
          <p:nvPr>
            <p:ph type="subTitle" idx="1"/>
          </p:nvPr>
        </p:nvSpPr>
        <p:spPr>
          <a:xfrm>
            <a:off x="3953814" y="535000"/>
            <a:ext cx="4478586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o-RO" sz="1200" dirty="0"/>
              <a:t>Proiect: Sisteme cu Inteligență Artificială (Rețele Neuronale)</a:t>
            </a:r>
            <a:endParaRPr sz="1200" b="1" dirty="0"/>
          </a:p>
        </p:txBody>
      </p:sp>
      <p:cxnSp>
        <p:nvCxnSpPr>
          <p:cNvPr id="192" name="Google Shape;192;p35">
            <a:hlinkClick r:id="" action="ppaction://hlinkshowjump?jump=nextslide"/>
          </p:cNvPr>
          <p:cNvCxnSpPr/>
          <p:nvPr/>
        </p:nvCxnSpPr>
        <p:spPr>
          <a:xfrm>
            <a:off x="715100" y="7291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FA02227-52ED-84A1-267C-B50848D445A8}"/>
              </a:ext>
            </a:extLst>
          </p:cNvPr>
          <p:cNvSpPr txBox="1"/>
          <p:nvPr/>
        </p:nvSpPr>
        <p:spPr>
          <a:xfrm>
            <a:off x="4734106" y="3855873"/>
            <a:ext cx="36596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Autor:</a:t>
            </a:r>
            <a:r>
              <a:rPr lang="ro-RO" dirty="0"/>
              <a:t> Baba Cristian-Teodor, grupa 624AB</a:t>
            </a:r>
            <a:br>
              <a:rPr lang="ro-RO" dirty="0"/>
            </a:br>
            <a:r>
              <a:rPr lang="ro-RO" b="1" dirty="0"/>
              <a:t>Facultatea de Inginerie Industrială și Robotică – UPB</a:t>
            </a:r>
            <a:endParaRPr lang="ro-RO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>
            <a:spLocks noGrp="1"/>
          </p:cNvSpPr>
          <p:nvPr>
            <p:ph type="title"/>
          </p:nvPr>
        </p:nvSpPr>
        <p:spPr>
          <a:xfrm>
            <a:off x="1070650" y="1367325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07" name="Google Shape;207;p37"/>
          <p:cNvSpPr txBox="1">
            <a:spLocks noGrp="1"/>
          </p:cNvSpPr>
          <p:nvPr>
            <p:ph type="subTitle" idx="1"/>
          </p:nvPr>
        </p:nvSpPr>
        <p:spPr>
          <a:xfrm>
            <a:off x="1609075" y="1367325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o-RO" dirty="0"/>
              <a:t>Introducere și motivație</a:t>
            </a:r>
            <a:endParaRPr dirty="0"/>
          </a:p>
        </p:txBody>
      </p:sp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Cuprins</a:t>
            </a:r>
            <a:endParaRPr dirty="0"/>
          </a:p>
        </p:txBody>
      </p:sp>
      <p:sp>
        <p:nvSpPr>
          <p:cNvPr id="209" name="Google Shape;209;p37"/>
          <p:cNvSpPr txBox="1">
            <a:spLocks noGrp="1"/>
          </p:cNvSpPr>
          <p:nvPr>
            <p:ph type="title" idx="3"/>
          </p:nvPr>
        </p:nvSpPr>
        <p:spPr>
          <a:xfrm>
            <a:off x="1070650" y="2103525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0" name="Google Shape;210;p37"/>
          <p:cNvSpPr txBox="1">
            <a:spLocks noGrp="1"/>
          </p:cNvSpPr>
          <p:nvPr>
            <p:ph type="subTitle" idx="4"/>
          </p:nvPr>
        </p:nvSpPr>
        <p:spPr>
          <a:xfrm>
            <a:off x="1609075" y="2103533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o-RO" dirty="0"/>
              <a:t>Domeniul industrial și studiul de caz</a:t>
            </a:r>
            <a:endParaRPr dirty="0"/>
          </a:p>
        </p:txBody>
      </p:sp>
      <p:sp>
        <p:nvSpPr>
          <p:cNvPr id="211" name="Google Shape;211;p37"/>
          <p:cNvSpPr txBox="1">
            <a:spLocks noGrp="1"/>
          </p:cNvSpPr>
          <p:nvPr>
            <p:ph type="title" idx="5"/>
          </p:nvPr>
        </p:nvSpPr>
        <p:spPr>
          <a:xfrm>
            <a:off x="1070650" y="2839750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12" name="Google Shape;212;p37"/>
          <p:cNvSpPr txBox="1">
            <a:spLocks noGrp="1"/>
          </p:cNvSpPr>
          <p:nvPr>
            <p:ph type="subTitle" idx="6"/>
          </p:nvPr>
        </p:nvSpPr>
        <p:spPr>
          <a:xfrm>
            <a:off x="1609075" y="2839740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 dirty="0"/>
              <a:t>Provocări actuale și nevoi identificate</a:t>
            </a:r>
            <a:endParaRPr dirty="0"/>
          </a:p>
        </p:txBody>
      </p:sp>
      <p:sp>
        <p:nvSpPr>
          <p:cNvPr id="213" name="Google Shape;213;p37"/>
          <p:cNvSpPr txBox="1">
            <a:spLocks noGrp="1"/>
          </p:cNvSpPr>
          <p:nvPr>
            <p:ph type="title" idx="7"/>
          </p:nvPr>
        </p:nvSpPr>
        <p:spPr>
          <a:xfrm>
            <a:off x="1070650" y="3575950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14" name="Google Shape;214;p37"/>
          <p:cNvSpPr txBox="1">
            <a:spLocks noGrp="1"/>
          </p:cNvSpPr>
          <p:nvPr>
            <p:ph type="subTitle" idx="8"/>
          </p:nvPr>
        </p:nvSpPr>
        <p:spPr>
          <a:xfrm>
            <a:off x="1609075" y="3575948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o-RO" dirty="0"/>
              <a:t>Prezentarea sistemului AI propus</a:t>
            </a:r>
            <a:endParaRPr dirty="0"/>
          </a:p>
        </p:txBody>
      </p:sp>
      <p:sp>
        <p:nvSpPr>
          <p:cNvPr id="215" name="Google Shape;215;p37"/>
          <p:cNvSpPr txBox="1">
            <a:spLocks noGrp="1"/>
          </p:cNvSpPr>
          <p:nvPr>
            <p:ph type="title" idx="9"/>
          </p:nvPr>
        </p:nvSpPr>
        <p:spPr>
          <a:xfrm>
            <a:off x="4927449" y="1367325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16" name="Google Shape;216;p37"/>
          <p:cNvSpPr txBox="1">
            <a:spLocks noGrp="1"/>
          </p:cNvSpPr>
          <p:nvPr>
            <p:ph type="subTitle" idx="13"/>
          </p:nvPr>
        </p:nvSpPr>
        <p:spPr>
          <a:xfrm>
            <a:off x="5465950" y="1367325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o-RO" dirty="0"/>
              <a:t>Arhitectura sistemului</a:t>
            </a:r>
            <a:endParaRPr dirty="0"/>
          </a:p>
        </p:txBody>
      </p:sp>
      <p:sp>
        <p:nvSpPr>
          <p:cNvPr id="217" name="Google Shape;217;p37"/>
          <p:cNvSpPr txBox="1">
            <a:spLocks noGrp="1"/>
          </p:cNvSpPr>
          <p:nvPr>
            <p:ph type="title" idx="14"/>
          </p:nvPr>
        </p:nvSpPr>
        <p:spPr>
          <a:xfrm>
            <a:off x="4927449" y="2103522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218" name="Google Shape;218;p37"/>
          <p:cNvSpPr txBox="1">
            <a:spLocks noGrp="1"/>
          </p:cNvSpPr>
          <p:nvPr>
            <p:ph type="subTitle" idx="15"/>
          </p:nvPr>
        </p:nvSpPr>
        <p:spPr>
          <a:xfrm>
            <a:off x="5465950" y="2103519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fr-FR" dirty="0" err="1"/>
              <a:t>Fluxul</a:t>
            </a:r>
            <a:r>
              <a:rPr lang="fr-FR" dirty="0"/>
              <a:t> de date </a:t>
            </a:r>
            <a:r>
              <a:rPr lang="fr-FR" dirty="0" err="1"/>
              <a:t>și</a:t>
            </a:r>
            <a:r>
              <a:rPr lang="fr-FR" dirty="0"/>
              <a:t> </a:t>
            </a:r>
            <a:r>
              <a:rPr lang="fr-FR" dirty="0" err="1"/>
              <a:t>tehnologiile</a:t>
            </a:r>
            <a:r>
              <a:rPr lang="fr-FR" dirty="0"/>
              <a:t> </a:t>
            </a:r>
            <a:r>
              <a:rPr lang="fr-FR" dirty="0" err="1"/>
              <a:t>utilizate</a:t>
            </a:r>
            <a:endParaRPr dirty="0"/>
          </a:p>
        </p:txBody>
      </p:sp>
      <p:sp>
        <p:nvSpPr>
          <p:cNvPr id="219" name="Google Shape;219;p37"/>
          <p:cNvSpPr txBox="1">
            <a:spLocks noGrp="1"/>
          </p:cNvSpPr>
          <p:nvPr>
            <p:ph type="title" idx="16"/>
          </p:nvPr>
        </p:nvSpPr>
        <p:spPr>
          <a:xfrm>
            <a:off x="4927449" y="2839728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220" name="Google Shape;220;p37"/>
          <p:cNvSpPr txBox="1">
            <a:spLocks noGrp="1"/>
          </p:cNvSpPr>
          <p:nvPr>
            <p:ph type="subTitle" idx="17"/>
          </p:nvPr>
        </p:nvSpPr>
        <p:spPr>
          <a:xfrm>
            <a:off x="5465950" y="2839721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o-RO" dirty="0"/>
              <a:t>Utilizatori și roluri</a:t>
            </a:r>
            <a:endParaRPr dirty="0"/>
          </a:p>
        </p:txBody>
      </p:sp>
      <p:sp>
        <p:nvSpPr>
          <p:cNvPr id="221" name="Google Shape;221;p37"/>
          <p:cNvSpPr txBox="1">
            <a:spLocks noGrp="1"/>
          </p:cNvSpPr>
          <p:nvPr>
            <p:ph type="title" idx="18"/>
          </p:nvPr>
        </p:nvSpPr>
        <p:spPr>
          <a:xfrm>
            <a:off x="4927449" y="3575925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08</a:t>
            </a:r>
            <a:endParaRPr/>
          </a:p>
        </p:txBody>
      </p:sp>
      <p:sp>
        <p:nvSpPr>
          <p:cNvPr id="222" name="Google Shape;222;p37"/>
          <p:cNvSpPr txBox="1">
            <a:spLocks noGrp="1"/>
          </p:cNvSpPr>
          <p:nvPr>
            <p:ph type="subTitle" idx="19"/>
          </p:nvPr>
        </p:nvSpPr>
        <p:spPr>
          <a:xfrm>
            <a:off x="5465950" y="3575916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o-RO" dirty="0"/>
              <a:t>Beneficii, rezultate și direcții viitoare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>
            <a:spLocks noGrp="1"/>
          </p:cNvSpPr>
          <p:nvPr>
            <p:ph type="subTitle" idx="1"/>
          </p:nvPr>
        </p:nvSpPr>
        <p:spPr>
          <a:xfrm>
            <a:off x="768738" y="1244122"/>
            <a:ext cx="7606524" cy="3182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ro-RO" b="1" dirty="0"/>
              <a:t>Contextul proiectului</a:t>
            </a:r>
            <a:endParaRPr lang="en-US" b="1" dirty="0"/>
          </a:p>
          <a:p>
            <a:r>
              <a:rPr lang="ro-RO" dirty="0"/>
              <a:t>În mediul universitar contemporan, monitorizarea prezenței studenților reprezintă un proces esențial</a:t>
            </a:r>
            <a:endParaRPr lang="en-US" dirty="0"/>
          </a:p>
          <a:p>
            <a:r>
              <a:rPr lang="ro-RO" dirty="0"/>
              <a:t>pentru evaluarea implicării academice. În majoritatea cazurilor, această activitate este realizată manual</a:t>
            </a:r>
            <a:endParaRPr lang="en-US" dirty="0"/>
          </a:p>
          <a:p>
            <a:r>
              <a:rPr lang="ro-RO" dirty="0"/>
              <a:t>prin semnături sau apel nominal, metode care se dovedesc ineficiente, consumatoare de timp și</a:t>
            </a:r>
            <a:endParaRPr lang="en-US" dirty="0"/>
          </a:p>
          <a:p>
            <a:r>
              <a:rPr lang="ro-RO" dirty="0"/>
              <a:t>predispuse la erori sau falsificări.</a:t>
            </a:r>
          </a:p>
          <a:p>
            <a:pPr>
              <a:lnSpc>
                <a:spcPct val="200000"/>
              </a:lnSpc>
            </a:pPr>
            <a:r>
              <a:rPr lang="ro-RO" b="1" dirty="0"/>
              <a:t>Ideea proiectului</a:t>
            </a:r>
            <a:endParaRPr lang="en-US" b="1" dirty="0"/>
          </a:p>
          <a:p>
            <a:r>
              <a:rPr lang="ro-RO" dirty="0"/>
              <a:t>Proiectul propune dezvoltarea unui Sistem cu Inteligență Artificială (SIA) bazat pe rețele neuronale</a:t>
            </a:r>
            <a:endParaRPr lang="en-US" dirty="0"/>
          </a:p>
          <a:p>
            <a:r>
              <a:rPr lang="ro-RO" dirty="0"/>
              <a:t>convoluționale (CNN) capabil să analizeze imagini video în timp real pentru identificarea automată a</a:t>
            </a:r>
            <a:endParaRPr lang="en-US" dirty="0"/>
          </a:p>
          <a:p>
            <a:r>
              <a:rPr lang="ro-RO" dirty="0"/>
              <a:t>studenților.</a:t>
            </a:r>
          </a:p>
          <a:p>
            <a:pPr>
              <a:lnSpc>
                <a:spcPct val="200000"/>
              </a:lnSpc>
            </a:pPr>
            <a:r>
              <a:rPr lang="ro-RO" b="1" dirty="0"/>
              <a:t>Scopul sistemului</a:t>
            </a:r>
            <a:endParaRPr lang="en-US" b="1" dirty="0"/>
          </a:p>
          <a:p>
            <a:r>
              <a:rPr lang="ro-RO" dirty="0"/>
              <a:t>Automatizarea completă a procesului de prezență, eliminarea erorilor umane și reducerea timpului de</a:t>
            </a:r>
            <a:endParaRPr lang="en-US" dirty="0"/>
          </a:p>
          <a:p>
            <a:r>
              <a:rPr lang="ro-RO" dirty="0"/>
              <a:t>apel nominal de la câteva minute la câteva secunde.</a:t>
            </a:r>
          </a:p>
        </p:txBody>
      </p:sp>
      <p:sp>
        <p:nvSpPr>
          <p:cNvPr id="250" name="Google Shape;250;p4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dirty="0"/>
              <a:t>Introducere și motivație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dirty="0"/>
              <a:t>Domeniul industrial și studiul de caz</a:t>
            </a:r>
            <a:endParaRPr dirty="0"/>
          </a:p>
        </p:txBody>
      </p:sp>
      <p:sp>
        <p:nvSpPr>
          <p:cNvPr id="18" name="Google Shape;249;p41">
            <a:extLst>
              <a:ext uri="{FF2B5EF4-FFF2-40B4-BE49-F238E27FC236}">
                <a16:creationId xmlns:a16="http://schemas.microsoft.com/office/drawing/2014/main" id="{70E74F62-6E75-1F92-CCD0-5B5A8884C69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8738" y="1244122"/>
            <a:ext cx="7606524" cy="3182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ro-RO" b="1" dirty="0"/>
              <a:t>Domeniul industrial de interes (DII)</a:t>
            </a:r>
            <a:endParaRPr lang="en-US" b="1" dirty="0"/>
          </a:p>
          <a:p>
            <a:r>
              <a:rPr lang="ro-RO" dirty="0"/>
              <a:t>Educație inteligentă (EduTech) – aplicarea metodelor de inteligență artificială în mediul universitar</a:t>
            </a:r>
            <a:endParaRPr lang="en-US" dirty="0"/>
          </a:p>
          <a:p>
            <a:r>
              <a:rPr lang="ro-RO" dirty="0"/>
              <a:t>pentru digitalizarea proceselor academice.</a:t>
            </a:r>
          </a:p>
          <a:p>
            <a:pPr>
              <a:lnSpc>
                <a:spcPct val="200000"/>
              </a:lnSpc>
            </a:pPr>
            <a:r>
              <a:rPr lang="ro-RO" b="1" dirty="0"/>
              <a:t>Studiu de caz</a:t>
            </a:r>
            <a:endParaRPr lang="en-US" b="1" dirty="0"/>
          </a:p>
          <a:p>
            <a:r>
              <a:rPr lang="ro-RO" dirty="0"/>
              <a:t>Facultatea de Inginerie Industrială și Robotică, Universitatea Politehnica din București, care dispune de</a:t>
            </a:r>
            <a:endParaRPr lang="en-US" dirty="0"/>
          </a:p>
          <a:p>
            <a:r>
              <a:rPr lang="ro-RO" dirty="0"/>
              <a:t>infrastructură modernă: camere video, rețele locale performante și laboratoare dedicate cercetării în</a:t>
            </a:r>
            <a:endParaRPr lang="en-US" dirty="0"/>
          </a:p>
          <a:p>
            <a:r>
              <a:rPr lang="ro-RO" dirty="0"/>
              <a:t>robotică și inteligență artificială.</a:t>
            </a:r>
          </a:p>
          <a:p>
            <a:pPr>
              <a:lnSpc>
                <a:spcPct val="200000"/>
              </a:lnSpc>
            </a:pPr>
            <a:r>
              <a:rPr lang="ro-RO" b="1" dirty="0"/>
              <a:t>Relevanță industrială</a:t>
            </a:r>
            <a:endParaRPr lang="en-US" b="1" dirty="0"/>
          </a:p>
          <a:p>
            <a:r>
              <a:rPr lang="ro-RO" dirty="0"/>
              <a:t>Soluția poate fi extinsă către domenii precum controlul accesului în fabrici, monitorizarea personalului</a:t>
            </a:r>
            <a:endParaRPr lang="en-US" dirty="0"/>
          </a:p>
          <a:p>
            <a:r>
              <a:rPr lang="ro-RO" dirty="0"/>
              <a:t>din logistică, producție sau automotive, precum și către sisteme de securitate bazate pe identificare</a:t>
            </a:r>
            <a:endParaRPr lang="en-US" dirty="0"/>
          </a:p>
          <a:p>
            <a:r>
              <a:rPr lang="ro-RO" dirty="0"/>
              <a:t>facială.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45F0E970-447E-9257-CF52-71CE9F76D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>
            <a:extLst>
              <a:ext uri="{FF2B5EF4-FFF2-40B4-BE49-F238E27FC236}">
                <a16:creationId xmlns:a16="http://schemas.microsoft.com/office/drawing/2014/main" id="{199D2EDB-2285-FF66-2E0C-5ECAC1B1F9C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8738" y="1244122"/>
            <a:ext cx="7606524" cy="3182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ro-RO" b="1" dirty="0"/>
              <a:t>Probleme actuale</a:t>
            </a:r>
            <a:endParaRPr lang="ro-RO" dirty="0"/>
          </a:p>
          <a:p>
            <a:pPr>
              <a:buFont typeface="Arial" panose="020B0604020202020204" pitchFamily="34" charset="0"/>
              <a:buChar char="•"/>
            </a:pPr>
            <a:r>
              <a:rPr lang="ro-RO" dirty="0"/>
              <a:t>Lipsa unui sistem digital unitar de gestionare a prezenței.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dirty="0"/>
              <a:t>Timp semnificativ pierdut pentru apelul nominal.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dirty="0"/>
              <a:t>Posibilitatea apariției erorilor și a semnăturilor false.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dirty="0"/>
              <a:t>Dificultăți în centralizarea și analizarea datelor.</a:t>
            </a:r>
          </a:p>
          <a:p>
            <a:pPr>
              <a:lnSpc>
                <a:spcPct val="200000"/>
              </a:lnSpc>
            </a:pPr>
            <a:r>
              <a:rPr lang="ro-RO" b="1" dirty="0"/>
              <a:t>Tendințe actuale</a:t>
            </a:r>
            <a:endParaRPr lang="en-US" b="1" dirty="0"/>
          </a:p>
          <a:p>
            <a:r>
              <a:rPr lang="ro-RO" dirty="0"/>
              <a:t>La nivel internațional, universități precum MIT, Stanford sau Politecnico di Milano utilizează sisteme AI</a:t>
            </a:r>
            <a:endParaRPr lang="en-US" dirty="0"/>
          </a:p>
          <a:p>
            <a:r>
              <a:rPr lang="ro-RO" dirty="0"/>
              <a:t>bazate pe rețele neuronale pentru monitorizarea prezenței.</a:t>
            </a:r>
            <a:endParaRPr lang="en-US" dirty="0"/>
          </a:p>
          <a:p>
            <a:r>
              <a:rPr lang="ro-RO" dirty="0"/>
              <a:t>Evoluția modelelor CNN (FaceNet, DeepFace, Dlib) și apariția tehnologiilor de tip edge computing</a:t>
            </a:r>
            <a:endParaRPr lang="en-US" dirty="0"/>
          </a:p>
          <a:p>
            <a:r>
              <a:rPr lang="ro-RO" dirty="0"/>
              <a:t>permit procesarea locală, direct pe dispozitive precum Raspberry Pi sau Jetson Nano.</a:t>
            </a:r>
          </a:p>
          <a:p>
            <a:pPr>
              <a:lnSpc>
                <a:spcPct val="200000"/>
              </a:lnSpc>
            </a:pPr>
            <a:r>
              <a:rPr lang="ro-RO" b="1" dirty="0"/>
              <a:t>Nevoi identificate în ecosistemul FIIR/UPB</a:t>
            </a:r>
            <a:endParaRPr lang="en-US" b="1" dirty="0"/>
          </a:p>
          <a:p>
            <a:r>
              <a:rPr lang="ro-RO" dirty="0"/>
              <a:t>Integrarea sistemului cu platforma Moodle.UPB.ro, generarea automată de rapoarte de prezență și</a:t>
            </a:r>
            <a:endParaRPr lang="en-US" dirty="0"/>
          </a:p>
          <a:p>
            <a:r>
              <a:rPr lang="ro-RO" dirty="0"/>
              <a:t>implementarea într-un cadru scalabil, adaptat laboratoarelor cu un număr mare de studenți.</a:t>
            </a:r>
          </a:p>
        </p:txBody>
      </p:sp>
      <p:sp>
        <p:nvSpPr>
          <p:cNvPr id="250" name="Google Shape;250;p41">
            <a:extLst>
              <a:ext uri="{FF2B5EF4-FFF2-40B4-BE49-F238E27FC236}">
                <a16:creationId xmlns:a16="http://schemas.microsoft.com/office/drawing/2014/main" id="{2F184EEC-06C7-D82A-03A2-9CD4E47E68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dirty="0"/>
              <a:t>Provocări actuale și nevoi identificate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93312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294C7C6A-DF6E-40DD-468D-B773516F2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>
            <a:extLst>
              <a:ext uri="{FF2B5EF4-FFF2-40B4-BE49-F238E27FC236}">
                <a16:creationId xmlns:a16="http://schemas.microsoft.com/office/drawing/2014/main" id="{94DCEBF5-471B-5BFF-1034-72C775B439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dirty="0"/>
              <a:t>Prezentarea sistemului AI propus</a:t>
            </a:r>
            <a:endParaRPr dirty="0"/>
          </a:p>
        </p:txBody>
      </p:sp>
      <p:sp>
        <p:nvSpPr>
          <p:cNvPr id="18" name="Google Shape;249;p41">
            <a:extLst>
              <a:ext uri="{FF2B5EF4-FFF2-40B4-BE49-F238E27FC236}">
                <a16:creationId xmlns:a16="http://schemas.microsoft.com/office/drawing/2014/main" id="{0F4411A8-7A73-298A-D4F3-BABC6925D63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8738" y="1244122"/>
            <a:ext cx="7606524" cy="3182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ro-RO" b="1" dirty="0"/>
              <a:t>Descriere generală</a:t>
            </a:r>
            <a:endParaRPr lang="en-US" b="1" dirty="0"/>
          </a:p>
          <a:p>
            <a:r>
              <a:rPr lang="ro-RO" dirty="0"/>
              <a:t>Sistemul propus, denumit SAS-AI (Smart Attendance System with Artificial Intelligence), automatizează</a:t>
            </a:r>
            <a:endParaRPr lang="en-US" dirty="0"/>
          </a:p>
          <a:p>
            <a:r>
              <a:rPr lang="ro-RO" dirty="0"/>
              <a:t>procesul de înregistrare a prezenței prin recunoaștere facială.</a:t>
            </a:r>
          </a:p>
          <a:p>
            <a:pPr>
              <a:lnSpc>
                <a:spcPct val="200000"/>
              </a:lnSpc>
            </a:pPr>
            <a:r>
              <a:rPr lang="ro-RO" b="1" dirty="0"/>
              <a:t>Mod de funcționare</a:t>
            </a:r>
            <a:endParaRPr lang="ro-RO" dirty="0"/>
          </a:p>
          <a:p>
            <a:pPr>
              <a:buFont typeface="+mj-lt"/>
              <a:buAutoNum type="arabicPeriod"/>
            </a:pPr>
            <a:r>
              <a:rPr lang="ro-RO" dirty="0"/>
              <a:t>Camera video capturează imaginea studentului.</a:t>
            </a:r>
          </a:p>
          <a:p>
            <a:pPr>
              <a:buFont typeface="+mj-lt"/>
              <a:buAutoNum type="arabicPeriod"/>
            </a:pPr>
            <a:r>
              <a:rPr lang="ro-RO" dirty="0"/>
              <a:t>Modelul de rețea neuronală detectează și recunoaște fața.</a:t>
            </a:r>
          </a:p>
          <a:p>
            <a:pPr>
              <a:buFont typeface="+mj-lt"/>
              <a:buAutoNum type="arabicPeriod"/>
            </a:pPr>
            <a:r>
              <a:rPr lang="ro-RO" dirty="0"/>
              <a:t>Identitatea este verificată în baza de date.</a:t>
            </a:r>
          </a:p>
          <a:p>
            <a:pPr>
              <a:buFont typeface="+mj-lt"/>
              <a:buAutoNum type="arabicPeriod"/>
            </a:pPr>
            <a:r>
              <a:rPr lang="ro-RO" dirty="0"/>
              <a:t>Prezența este înregistrată automat și sincronizată cu serverul.</a:t>
            </a:r>
          </a:p>
          <a:p>
            <a:pPr>
              <a:lnSpc>
                <a:spcPct val="200000"/>
              </a:lnSpc>
            </a:pPr>
            <a:r>
              <a:rPr lang="ro-RO" b="1" dirty="0"/>
              <a:t>Avantaje principale</a:t>
            </a:r>
            <a:endParaRPr lang="en-US" b="1" dirty="0"/>
          </a:p>
          <a:p>
            <a:r>
              <a:rPr lang="ro-RO" dirty="0"/>
              <a:t>Viteză ridicată de procesare, acuratețe de peste 98% și posibilitatea de funcționare atât locală, cât și în</a:t>
            </a:r>
            <a:endParaRPr lang="en-US" dirty="0"/>
          </a:p>
          <a:p>
            <a:r>
              <a:rPr lang="ro-RO" dirty="0"/>
              <a:t>cloud.</a:t>
            </a:r>
          </a:p>
        </p:txBody>
      </p:sp>
    </p:spTree>
    <p:extLst>
      <p:ext uri="{BB962C8B-B14F-4D97-AF65-F5344CB8AC3E}">
        <p14:creationId xmlns:p14="http://schemas.microsoft.com/office/powerpoint/2010/main" val="2399527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77C7B7A7-64DB-1146-3247-3D9FF8FF4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>
            <a:extLst>
              <a:ext uri="{FF2B5EF4-FFF2-40B4-BE49-F238E27FC236}">
                <a16:creationId xmlns:a16="http://schemas.microsoft.com/office/drawing/2014/main" id="{B449B155-7792-9FF7-5BD2-A7668F03638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8738" y="1244122"/>
            <a:ext cx="7606524" cy="3182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ro-RO" b="1" dirty="0"/>
              <a:t>Componente hardware</a:t>
            </a:r>
            <a:endParaRPr lang="en-US" b="1" dirty="0"/>
          </a:p>
          <a:p>
            <a:r>
              <a:rPr lang="ro-RO" dirty="0"/>
              <a:t>Arhitectura sistemului propus include un ansamblu compact, optimizat pentru procesare locală: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b="1" dirty="0"/>
              <a:t>Raspberry Pi 5</a:t>
            </a:r>
            <a:r>
              <a:rPr lang="ro-RO" dirty="0"/>
              <a:t> sau </a:t>
            </a:r>
            <a:r>
              <a:rPr lang="ro-RO" b="1" dirty="0"/>
              <a:t>laptop cu GPU NVIDIA</a:t>
            </a:r>
            <a:r>
              <a:rPr lang="ro-RO" dirty="0"/>
              <a:t>, pentru rularea modelului neuronal.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b="1" dirty="0"/>
              <a:t>Cameră video HD</a:t>
            </a:r>
            <a:r>
              <a:rPr lang="ro-RO" dirty="0"/>
              <a:t> (ex. Logitech C920, Raspberry Pi HQ 12MP), destinată capturii în timp real.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b="1" dirty="0"/>
              <a:t>Rețea locală Wi-Fi/LAN</a:t>
            </a:r>
            <a:r>
              <a:rPr lang="ro-RO" dirty="0"/>
              <a:t>, pentru transmiterea datelor către server.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b="1" dirty="0"/>
              <a:t>Server local opțional</a:t>
            </a:r>
            <a:r>
              <a:rPr lang="ro-RO" dirty="0"/>
              <a:t>, pentru stocarea logurilor și a modelelor AI.</a:t>
            </a:r>
            <a:endParaRPr lang="en-US" dirty="0"/>
          </a:p>
          <a:p>
            <a:r>
              <a:rPr lang="ro-RO" dirty="0"/>
              <a:t>Această structură permite o procesare rapidă, independentă de conexiunea la internet, asigurând</a:t>
            </a:r>
            <a:endParaRPr lang="en-US" dirty="0"/>
          </a:p>
          <a:p>
            <a:r>
              <a:rPr lang="ro-RO" dirty="0"/>
              <a:t>confidențialitatea datelor biometrice.</a:t>
            </a:r>
          </a:p>
          <a:p>
            <a:pPr>
              <a:lnSpc>
                <a:spcPct val="200000"/>
              </a:lnSpc>
            </a:pPr>
            <a:r>
              <a:rPr lang="ro-RO" b="1" dirty="0"/>
              <a:t>Componente software</a:t>
            </a:r>
            <a:endParaRPr lang="ro-RO" dirty="0"/>
          </a:p>
          <a:p>
            <a:pPr>
              <a:buFont typeface="Arial" panose="020B0604020202020204" pitchFamily="34" charset="0"/>
              <a:buChar char="•"/>
            </a:pPr>
            <a:r>
              <a:rPr lang="ro-RO" b="1" dirty="0"/>
              <a:t>Captură video:</a:t>
            </a:r>
            <a:r>
              <a:rPr lang="ro-RO" dirty="0"/>
              <a:t> </a:t>
            </a:r>
            <a:r>
              <a:rPr lang="ro-RO" i="1" dirty="0"/>
              <a:t>OpenCV</a:t>
            </a:r>
            <a:r>
              <a:rPr lang="ro-RO" dirty="0"/>
              <a:t> pentru preluarea și filtrarea imaginilor.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b="1" dirty="0"/>
              <a:t>Detecție facială:</a:t>
            </a:r>
            <a:r>
              <a:rPr lang="ro-RO" dirty="0"/>
              <a:t> </a:t>
            </a:r>
            <a:r>
              <a:rPr lang="ro-RO" i="1" dirty="0"/>
              <a:t>Haar Cascade</a:t>
            </a:r>
            <a:r>
              <a:rPr lang="ro-RO" dirty="0"/>
              <a:t> sau </a:t>
            </a:r>
            <a:r>
              <a:rPr lang="ro-RO" i="1" dirty="0"/>
              <a:t>HOG</a:t>
            </a:r>
            <a:r>
              <a:rPr lang="ro-RO" dirty="0"/>
              <a:t> pentru localizarea fețelor.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b="1" dirty="0"/>
              <a:t>Recunoaștere facială:</a:t>
            </a:r>
            <a:r>
              <a:rPr lang="ro-RO" dirty="0"/>
              <a:t> rețele CNN antrenate cu </a:t>
            </a:r>
            <a:r>
              <a:rPr lang="ro-RO" i="1" dirty="0"/>
              <a:t>FaceNet</a:t>
            </a:r>
            <a:r>
              <a:rPr lang="ro-RO" dirty="0"/>
              <a:t>, </a:t>
            </a:r>
            <a:r>
              <a:rPr lang="ro-RO" i="1" dirty="0"/>
              <a:t>DeepFace</a:t>
            </a:r>
            <a:r>
              <a:rPr lang="ro-RO" dirty="0"/>
              <a:t> sau </a:t>
            </a:r>
            <a:r>
              <a:rPr lang="ro-RO" i="1" dirty="0"/>
              <a:t>ResNet-50</a:t>
            </a:r>
            <a:r>
              <a:rPr lang="ro-RO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b="1" dirty="0"/>
              <a:t>Stocare date:</a:t>
            </a:r>
            <a:r>
              <a:rPr lang="ro-RO" dirty="0"/>
              <a:t> baze de date relaționale și nerelaționale precum </a:t>
            </a:r>
            <a:r>
              <a:rPr lang="ro-RO" b="1" dirty="0"/>
              <a:t>MySQL</a:t>
            </a:r>
            <a:r>
              <a:rPr lang="ro-RO" dirty="0"/>
              <a:t>, </a:t>
            </a:r>
            <a:r>
              <a:rPr lang="ro-RO" b="1" dirty="0"/>
              <a:t>PostgreSQL</a:t>
            </a:r>
            <a:r>
              <a:rPr lang="ro-RO" dirty="0"/>
              <a:t>, </a:t>
            </a:r>
            <a:r>
              <a:rPr lang="ro-RO" b="1" dirty="0"/>
              <a:t>SQLite</a:t>
            </a:r>
            <a:r>
              <a:rPr lang="ro-RO" dirty="0"/>
              <a:t>, </a:t>
            </a:r>
            <a:r>
              <a:rPr lang="ro-RO" b="1" dirty="0"/>
              <a:t>MongoDB</a:t>
            </a:r>
            <a:r>
              <a:rPr lang="en-US" b="1" dirty="0"/>
              <a:t> </a:t>
            </a:r>
            <a:r>
              <a:rPr lang="ro-RO" dirty="0"/>
              <a:t>sau </a:t>
            </a:r>
            <a:r>
              <a:rPr lang="ro-RO" b="1" dirty="0"/>
              <a:t>Firebase</a:t>
            </a:r>
            <a:r>
              <a:rPr lang="ro-RO" dirty="0"/>
              <a:t>, în funcție de nivelul de scalabilitate dorit.</a:t>
            </a:r>
          </a:p>
        </p:txBody>
      </p:sp>
      <p:sp>
        <p:nvSpPr>
          <p:cNvPr id="250" name="Google Shape;250;p41">
            <a:extLst>
              <a:ext uri="{FF2B5EF4-FFF2-40B4-BE49-F238E27FC236}">
                <a16:creationId xmlns:a16="http://schemas.microsoft.com/office/drawing/2014/main" id="{547ECB89-8BD0-0B35-8C8C-DF64D7A274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dirty="0"/>
              <a:t>Arhitectura sistemului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2018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3BFA9F11-8FC9-E81B-E4EE-3429D790D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>
            <a:extLst>
              <a:ext uri="{FF2B5EF4-FFF2-40B4-BE49-F238E27FC236}">
                <a16:creationId xmlns:a16="http://schemas.microsoft.com/office/drawing/2014/main" id="{24FB3893-7A14-9887-1F37-841CF4B905B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8738" y="1244122"/>
            <a:ext cx="7606524" cy="3182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ro-RO" b="1" dirty="0"/>
              <a:t>Interfața utilizator</a:t>
            </a:r>
            <a:endParaRPr lang="en-US" b="1" dirty="0"/>
          </a:p>
          <a:p>
            <a:r>
              <a:rPr lang="ro-RO" dirty="0"/>
              <a:t>Interfața este dezvoltată sub formă de aplicație web în </a:t>
            </a:r>
            <a:r>
              <a:rPr lang="ro-RO" b="1" dirty="0"/>
              <a:t>React.js</a:t>
            </a:r>
            <a:r>
              <a:rPr lang="ro-RO" dirty="0"/>
              <a:t> sau </a:t>
            </a:r>
            <a:r>
              <a:rPr lang="ro-RO" b="1" dirty="0"/>
              <a:t>Angular</a:t>
            </a:r>
            <a:r>
              <a:rPr lang="ro-RO" dirty="0"/>
              <a:t>, cu design modern și</a:t>
            </a:r>
            <a:endParaRPr lang="en-US" dirty="0"/>
          </a:p>
          <a:p>
            <a:r>
              <a:rPr lang="ro-RO" dirty="0"/>
              <a:t>funcționalități dedicate: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ro-RO" dirty="0"/>
              <a:t>vizualizarea în timp real a studenților recunoscuți;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ro-RO" dirty="0"/>
              <a:t>generarea automată de rapoarte și statistici de prezență;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ro-RO" dirty="0"/>
              <a:t>gestionarea datelor de către cadrele didactice.</a:t>
            </a:r>
          </a:p>
          <a:p>
            <a:pPr>
              <a:lnSpc>
                <a:spcPct val="200000"/>
              </a:lnSpc>
            </a:pPr>
            <a:r>
              <a:rPr lang="ro-RO" b="1" dirty="0"/>
              <a:t>Flux de date</a:t>
            </a:r>
            <a:endParaRPr lang="en-US" b="1" dirty="0"/>
          </a:p>
          <a:p>
            <a:r>
              <a:rPr lang="ro-RO" dirty="0"/>
              <a:t>Camera capturează imaginea, modelul CNN procesează datele, verificarea are loc în baza de date, iar</a:t>
            </a:r>
            <a:endParaRPr lang="en-US" dirty="0"/>
          </a:p>
          <a:p>
            <a:r>
              <a:rPr lang="ro-RO" dirty="0"/>
              <a:t>rezultatele sunt afișate în interfața profesorului.</a:t>
            </a:r>
          </a:p>
          <a:p>
            <a:pPr>
              <a:lnSpc>
                <a:spcPct val="200000"/>
              </a:lnSpc>
            </a:pPr>
            <a:r>
              <a:rPr lang="ro-RO" b="1" dirty="0"/>
              <a:t>Securitate și comunicație</a:t>
            </a:r>
            <a:endParaRPr lang="en-US" b="1" dirty="0"/>
          </a:p>
          <a:p>
            <a:r>
              <a:rPr lang="ro-RO" dirty="0"/>
              <a:t>Modulele software comunică prin </a:t>
            </a:r>
            <a:r>
              <a:rPr lang="ro-RO" b="1" dirty="0"/>
              <a:t>API-uri REST</a:t>
            </a:r>
            <a:r>
              <a:rPr lang="ro-RO" dirty="0"/>
              <a:t> securizate, iar toate datele sunt criptate atât la</a:t>
            </a:r>
            <a:endParaRPr lang="en-US" dirty="0"/>
          </a:p>
          <a:p>
            <a:r>
              <a:rPr lang="ro-RO" dirty="0"/>
              <a:t>transmitere, cât și la stocare. Sistemul poate funcționa local (edge computing) sau în regim distribuit</a:t>
            </a:r>
            <a:endParaRPr lang="en-US" dirty="0"/>
          </a:p>
          <a:p>
            <a:r>
              <a:rPr lang="ro-RO" dirty="0"/>
              <a:t>prin sincronizare cloud.</a:t>
            </a:r>
          </a:p>
        </p:txBody>
      </p:sp>
      <p:sp>
        <p:nvSpPr>
          <p:cNvPr id="250" name="Google Shape;250;p41">
            <a:extLst>
              <a:ext uri="{FF2B5EF4-FFF2-40B4-BE49-F238E27FC236}">
                <a16:creationId xmlns:a16="http://schemas.microsoft.com/office/drawing/2014/main" id="{709EE5C4-AFB9-63D1-FD4B-4A75377D0C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dirty="0"/>
              <a:t>Arhitectura sistemului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8974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121D5919-8733-DA9D-41C6-AC3E428FF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>
            <a:extLst>
              <a:ext uri="{FF2B5EF4-FFF2-40B4-BE49-F238E27FC236}">
                <a16:creationId xmlns:a16="http://schemas.microsoft.com/office/drawing/2014/main" id="{77069E3E-C379-AA40-BB3A-497ADB1600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 err="1"/>
              <a:t>Fluxul</a:t>
            </a:r>
            <a:r>
              <a:rPr lang="fr-FR" dirty="0"/>
              <a:t> de date </a:t>
            </a:r>
            <a:r>
              <a:rPr lang="fr-FR" dirty="0" err="1"/>
              <a:t>și</a:t>
            </a:r>
            <a:r>
              <a:rPr lang="fr-FR" dirty="0"/>
              <a:t> </a:t>
            </a:r>
            <a:r>
              <a:rPr lang="fr-FR" dirty="0" err="1"/>
              <a:t>tehnologiile</a:t>
            </a:r>
            <a:r>
              <a:rPr lang="fr-FR" dirty="0"/>
              <a:t> </a:t>
            </a:r>
            <a:r>
              <a:rPr lang="fr-FR" dirty="0" err="1"/>
              <a:t>utilizate</a:t>
            </a:r>
            <a:endParaRPr dirty="0"/>
          </a:p>
        </p:txBody>
      </p:sp>
      <p:sp>
        <p:nvSpPr>
          <p:cNvPr id="18" name="Google Shape;249;p41">
            <a:extLst>
              <a:ext uri="{FF2B5EF4-FFF2-40B4-BE49-F238E27FC236}">
                <a16:creationId xmlns:a16="http://schemas.microsoft.com/office/drawing/2014/main" id="{198D4564-3706-649D-1F69-7FFEF411E92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8738" y="1244122"/>
            <a:ext cx="7606524" cy="3182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ro-RO" b="1" dirty="0"/>
              <a:t>Structura fluxului de date</a:t>
            </a:r>
            <a:endParaRPr lang="ro-RO" dirty="0"/>
          </a:p>
          <a:p>
            <a:pPr>
              <a:buFont typeface="+mj-lt"/>
              <a:buAutoNum type="arabicPeriod"/>
            </a:pPr>
            <a:r>
              <a:rPr lang="ro-RO" dirty="0"/>
              <a:t>Intrare: cadre video în format .mp4 sau imagini .jpg.</a:t>
            </a:r>
          </a:p>
          <a:p>
            <a:pPr>
              <a:buFont typeface="+mj-lt"/>
              <a:buAutoNum type="arabicPeriod"/>
            </a:pPr>
            <a:r>
              <a:rPr lang="ro-RO" dirty="0"/>
              <a:t>Preprocesare: detecția fețelor și conversia în vectori embedding.</a:t>
            </a:r>
          </a:p>
          <a:p>
            <a:pPr>
              <a:buFont typeface="+mj-lt"/>
              <a:buAutoNum type="arabicPeriod"/>
            </a:pPr>
            <a:r>
              <a:rPr lang="ro-RO" dirty="0"/>
              <a:t>Analiză: clasificarea și identificarea unică prin CNN.</a:t>
            </a:r>
          </a:p>
          <a:p>
            <a:pPr>
              <a:buFont typeface="+mj-lt"/>
              <a:buAutoNum type="arabicPeriod"/>
            </a:pPr>
            <a:r>
              <a:rPr lang="ro-RO" dirty="0"/>
              <a:t>Ieșire: date structurate (nume, oră, statut prezență) stocate în baza de date.</a:t>
            </a:r>
          </a:p>
          <a:p>
            <a:pPr>
              <a:lnSpc>
                <a:spcPct val="200000"/>
              </a:lnSpc>
            </a:pPr>
            <a:r>
              <a:rPr lang="ro-RO" b="1" dirty="0"/>
              <a:t>Formate și surse</a:t>
            </a:r>
            <a:endParaRPr lang="en-US" b="1" dirty="0"/>
          </a:p>
          <a:p>
            <a:r>
              <a:rPr lang="ro-RO" dirty="0"/>
              <a:t>Seturile de antrenare sunt formate din imagini colectate local, cu acordul studenților, iar rezultatele sunt</a:t>
            </a:r>
            <a:endParaRPr lang="en-US" dirty="0"/>
          </a:p>
          <a:p>
            <a:r>
              <a:rPr lang="ro-RO" dirty="0"/>
              <a:t>salvate în formate CSV, SQL sau JSON.</a:t>
            </a:r>
          </a:p>
          <a:p>
            <a:pPr>
              <a:lnSpc>
                <a:spcPct val="200000"/>
              </a:lnSpc>
            </a:pPr>
            <a:r>
              <a:rPr lang="ro-RO" b="1" dirty="0"/>
              <a:t>Tehnologii utilizate</a:t>
            </a:r>
            <a:endParaRPr lang="en-US" b="1" dirty="0"/>
          </a:p>
          <a:p>
            <a:r>
              <a:rPr lang="ro-RO" dirty="0"/>
              <a:t>Python (OpenCV, TensorFlow, Dlib, face_recognition, Flask), baze de date MySQL sau Firebase,</a:t>
            </a:r>
            <a:endParaRPr lang="en-US" dirty="0"/>
          </a:p>
          <a:p>
            <a:r>
              <a:rPr lang="ro-RO" dirty="0"/>
              <a:t>hardware Raspberry Pi 5, Camera HQ și, opțional, Google Colab pentru antrenare și testare.</a:t>
            </a:r>
          </a:p>
        </p:txBody>
      </p:sp>
    </p:spTree>
    <p:extLst>
      <p:ext uri="{BB962C8B-B14F-4D97-AF65-F5344CB8AC3E}">
        <p14:creationId xmlns:p14="http://schemas.microsoft.com/office/powerpoint/2010/main" val="2603868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1A170FD1-8897-1C90-1558-BEA29F705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>
            <a:extLst>
              <a:ext uri="{FF2B5EF4-FFF2-40B4-BE49-F238E27FC236}">
                <a16:creationId xmlns:a16="http://schemas.microsoft.com/office/drawing/2014/main" id="{52E56D35-C0FD-E32D-825C-DF953A4A2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dirty="0"/>
              <a:t>Beneficii, rezultate și direcții viitoare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C6D5B0-07E5-0CF7-9C2A-CBACFFF57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626478"/>
              </p:ext>
            </p:extLst>
          </p:nvPr>
        </p:nvGraphicFramePr>
        <p:xfrm>
          <a:off x="768739" y="1286277"/>
          <a:ext cx="7606524" cy="3150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5508">
                  <a:extLst>
                    <a:ext uri="{9D8B030D-6E8A-4147-A177-3AD203B41FA5}">
                      <a16:colId xmlns:a16="http://schemas.microsoft.com/office/drawing/2014/main" val="4215770089"/>
                    </a:ext>
                  </a:extLst>
                </a:gridCol>
                <a:gridCol w="2535508">
                  <a:extLst>
                    <a:ext uri="{9D8B030D-6E8A-4147-A177-3AD203B41FA5}">
                      <a16:colId xmlns:a16="http://schemas.microsoft.com/office/drawing/2014/main" val="2488788875"/>
                    </a:ext>
                  </a:extLst>
                </a:gridCol>
                <a:gridCol w="2535508">
                  <a:extLst>
                    <a:ext uri="{9D8B030D-6E8A-4147-A177-3AD203B41FA5}">
                      <a16:colId xmlns:a16="http://schemas.microsoft.com/office/drawing/2014/main" val="2196749386"/>
                    </a:ext>
                  </a:extLst>
                </a:gridCol>
              </a:tblGrid>
              <a:tr h="4741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dirty="0"/>
                        <a:t>Idicator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Sistem actual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Sistem AI propus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1896810"/>
                  </a:ext>
                </a:extLst>
              </a:tr>
              <a:tr h="6266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000" b="0" dirty="0"/>
                        <a:t>Timp de înregistrare a prezenței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000" b="0" dirty="0"/>
                        <a:t>Între </a:t>
                      </a:r>
                      <a:r>
                        <a:rPr lang="en-US" sz="1000" b="0" dirty="0"/>
                        <a:t>1</a:t>
                      </a:r>
                      <a:r>
                        <a:rPr lang="ro-RO" sz="1000" b="0" dirty="0"/>
                        <a:t>5 și </a:t>
                      </a:r>
                      <a:r>
                        <a:rPr lang="en-US" sz="1000" b="0" dirty="0"/>
                        <a:t>2</a:t>
                      </a:r>
                      <a:r>
                        <a:rPr lang="ro-RO" sz="1000" b="0" dirty="0"/>
                        <a:t>0 minute per oră de curs, proces efectuat manual de către </a:t>
                      </a:r>
                      <a:r>
                        <a:rPr lang="en-US" sz="1000" b="0" dirty="0" err="1"/>
                        <a:t>elevi</a:t>
                      </a:r>
                      <a:endParaRPr lang="ro-RO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dirty="0"/>
                        <a:t>Sub 20 </a:t>
                      </a:r>
                      <a:r>
                        <a:rPr lang="en-US" sz="1000" b="0" dirty="0" err="1"/>
                        <a:t>secunde</a:t>
                      </a:r>
                      <a:r>
                        <a:rPr lang="en-US" sz="1000" b="0" dirty="0"/>
                        <a:t> per student, </a:t>
                      </a:r>
                      <a:r>
                        <a:rPr lang="en-US" sz="1000" b="0" dirty="0" err="1"/>
                        <a:t>proces</a:t>
                      </a:r>
                      <a:r>
                        <a:rPr lang="en-US" sz="1000" b="0" dirty="0"/>
                        <a:t> automat </a:t>
                      </a:r>
                      <a:r>
                        <a:rPr lang="en-US" sz="1000" b="0" dirty="0" err="1"/>
                        <a:t>realizat</a:t>
                      </a:r>
                      <a:r>
                        <a:rPr lang="en-US" sz="1000" b="0" dirty="0"/>
                        <a:t> </a:t>
                      </a:r>
                      <a:r>
                        <a:rPr lang="en-US" sz="1000" b="0" dirty="0" err="1"/>
                        <a:t>în</a:t>
                      </a:r>
                      <a:r>
                        <a:rPr lang="en-US" sz="1000" b="0" dirty="0"/>
                        <a:t> </a:t>
                      </a:r>
                      <a:r>
                        <a:rPr lang="en-US" sz="1000" b="0" dirty="0" err="1"/>
                        <a:t>timp</a:t>
                      </a:r>
                      <a:r>
                        <a:rPr lang="en-US" sz="1000" b="0" dirty="0"/>
                        <a:t> real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6272326"/>
                  </a:ext>
                </a:extLst>
              </a:tr>
              <a:tr h="8056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000" b="0" dirty="0"/>
                        <a:t>Acuratețe a identificării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000" b="0" dirty="0"/>
                        <a:t>Foarte redusă (aprox. 30–40%), deoarece profesorul nu poate reține fețele tuturor studenților în grupe mari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000" b="0" dirty="0"/>
                        <a:t>Peste 98%, prin recunoaștere facială automată bazată pe rețele neuronale convoluționale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7613456"/>
                  </a:ext>
                </a:extLst>
              </a:tr>
              <a:tr h="4741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000" b="0" dirty="0"/>
                        <a:t>Posibilitate de fraudă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000" b="0" dirty="0"/>
                        <a:t>Ridicată: semnături false sau răspunsuri în locul altor colegi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000" b="0" dirty="0"/>
                        <a:t>Inexistentă, datorită identificării biometrice unice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4495021"/>
                  </a:ext>
                </a:extLst>
              </a:tr>
              <a:tr h="769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000" b="0" dirty="0"/>
                        <a:t>Raportare și arhivare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000" b="0" dirty="0"/>
                        <a:t>Manuală, dificil de centralizat și analizat ulterior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sz="1000" b="0" dirty="0"/>
                        <a:t>Automată, generată digital (CSV, SQL, PDF) cu posibilitate de integrare în platforme academice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3821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0457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05BC4D56-D536-0DF7-507C-A8F1BB967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>
            <a:extLst>
              <a:ext uri="{FF2B5EF4-FFF2-40B4-BE49-F238E27FC236}">
                <a16:creationId xmlns:a16="http://schemas.microsoft.com/office/drawing/2014/main" id="{3AD58390-356C-1E7E-7E1D-ACC6FA3450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dirty="0"/>
              <a:t>Beneficii, rezultate și direcții viitoare</a:t>
            </a:r>
            <a:endParaRPr dirty="0"/>
          </a:p>
        </p:txBody>
      </p:sp>
      <p:sp>
        <p:nvSpPr>
          <p:cNvPr id="18" name="Google Shape;249;p41">
            <a:extLst>
              <a:ext uri="{FF2B5EF4-FFF2-40B4-BE49-F238E27FC236}">
                <a16:creationId xmlns:a16="http://schemas.microsoft.com/office/drawing/2014/main" id="{7BF82669-28B5-6FF5-F161-7B413CB1B79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8738" y="1244122"/>
            <a:ext cx="7606524" cy="3182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ro-RO" b="1" dirty="0"/>
              <a:t>Concluzii generale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ro-RO" dirty="0"/>
              <a:t>Sistemul SAS-AI contribuie la eficientizarea procesului educațional prin: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ro-RO" dirty="0"/>
              <a:t>reducerea timpului de apel nominal cu peste 90%;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ro-RO" dirty="0"/>
              <a:t>creșterea acurateței identificării de la sub 40% la peste 98%;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dirty="0"/>
              <a:t>eliminarea completă a erorilor și a fraudei în procesul de prezență;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dirty="0"/>
              <a:t>digitalizarea integrală a evidenței academice.</a:t>
            </a:r>
          </a:p>
          <a:p>
            <a:pPr>
              <a:lnSpc>
                <a:spcPct val="200000"/>
              </a:lnSpc>
            </a:pPr>
            <a:r>
              <a:rPr lang="ro-RO" b="1" dirty="0"/>
              <a:t>Impact asupra mediului universitar</a:t>
            </a:r>
            <a:endParaRPr lang="en-US" b="1" dirty="0"/>
          </a:p>
          <a:p>
            <a:r>
              <a:rPr lang="ro-RO" dirty="0"/>
              <a:t>Sistemul sprijină transformarea digitală a ecosistemului FIIR/UPB, prin automatizarea proceselor</a:t>
            </a:r>
            <a:endParaRPr lang="en-US" dirty="0"/>
          </a:p>
          <a:p>
            <a:r>
              <a:rPr lang="ro-RO" dirty="0"/>
              <a:t>administrative și îmbunătățirea transparenței datelor de participare.</a:t>
            </a:r>
          </a:p>
          <a:p>
            <a:pPr>
              <a:lnSpc>
                <a:spcPct val="200000"/>
              </a:lnSpc>
            </a:pPr>
            <a:r>
              <a:rPr lang="ro-RO" b="1" dirty="0"/>
              <a:t>Direcții viitoare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ro-RO" dirty="0"/>
              <a:t>integrarea cu platforme precum Moodle și Microsoft Teams;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dirty="0"/>
              <a:t>extinderea sistemului la nivelul tuturor laboratoarelor și amfiteatrelor;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dirty="0"/>
              <a:t>dezvoltarea unor module suplimentare pentru analiza atenției și a implicării studenților.</a:t>
            </a:r>
          </a:p>
        </p:txBody>
      </p:sp>
    </p:spTree>
    <p:extLst>
      <p:ext uri="{BB962C8B-B14F-4D97-AF65-F5344CB8AC3E}">
        <p14:creationId xmlns:p14="http://schemas.microsoft.com/office/powerpoint/2010/main" val="1012016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2E55D5B3-A109-628D-F672-4B352A3C4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>
            <a:extLst>
              <a:ext uri="{FF2B5EF4-FFF2-40B4-BE49-F238E27FC236}">
                <a16:creationId xmlns:a16="http://schemas.microsoft.com/office/drawing/2014/main" id="{E7043085-DA42-1450-D2C9-68F48A7D48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dirty="0"/>
              <a:t>Surse bibliografice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4D4E7F-6DD0-86E9-8ABB-6DEA8822D94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68736" y="1145379"/>
            <a:ext cx="7606526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o-RO" altLang="ro-RO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Schroff, F., Kalenichenko, D., Philbin, J.</a:t>
            </a:r>
            <a:br>
              <a:rPr kumimoji="0" lang="ro-RO" altLang="ro-R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o-RO" altLang="ro-RO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FaceNet: A Unified Embedding for Face Recognition and Clustering</a:t>
            </a:r>
            <a:r>
              <a:rPr kumimoji="0" lang="ro-RO" altLang="ro-R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br>
              <a:rPr kumimoji="0" lang="ro-RO" altLang="ro-R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o-RO" altLang="ro-R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Proceedings of the IEEE Conference on Computer Vision and Pattern Recognition (CVPR), 2015.</a:t>
            </a:r>
            <a:br>
              <a:rPr kumimoji="0" lang="ro-RO" altLang="ro-R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o-RO" altLang="ro-R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https://www.cv-foundation.org/openaccess/content_cvpr_2015/papers/Schroff_FaceNet_A_Unified_2015_CVPR_paper.pdf</a:t>
            </a:r>
            <a:endParaRPr kumimoji="0" lang="ro-RO" altLang="ro-RO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o-RO" altLang="ro-RO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Taigman, Y., Yang, M., Ranzato, M., Wolf, L.</a:t>
            </a:r>
            <a:br>
              <a:rPr kumimoji="0" lang="ro-RO" altLang="ro-R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o-RO" altLang="ro-RO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DeepFace: Closing the Gap to Human-Level Performance in Face Verification</a:t>
            </a:r>
            <a:r>
              <a:rPr kumimoji="0" lang="ro-RO" altLang="ro-R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br>
              <a:rPr kumimoji="0" lang="ro-RO" altLang="ro-R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o-RO" altLang="ro-R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IEEE Conference on Computer Vision and Pattern Recognition (CVPR), 2014.</a:t>
            </a:r>
            <a:br>
              <a:rPr kumimoji="0" lang="ro-RO" altLang="ro-R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o-RO" altLang="ro-R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https://www.cs.toronto.edu/~ranzato/publications/taigman_cvpr14.pdf</a:t>
            </a:r>
            <a:endParaRPr kumimoji="0" lang="ro-RO" altLang="ro-RO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o-RO" altLang="ro-RO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Jiménez-Bravo, D. M., et al.</a:t>
            </a:r>
            <a:br>
              <a:rPr kumimoji="0" lang="ro-RO" altLang="ro-R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o-RO" altLang="ro-RO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Edge Face Recognition System Based on One-Shot Augmented Learning</a:t>
            </a:r>
            <a:r>
              <a:rPr kumimoji="0" lang="ro-RO" altLang="ro-R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br>
              <a:rPr kumimoji="0" lang="ro-RO" altLang="ro-R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o-RO" altLang="ro-R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International Journal of Interactive Multimedia and Artificial Intelligence, 2022.</a:t>
            </a:r>
            <a:br>
              <a:rPr kumimoji="0" lang="ro-RO" altLang="ro-R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o-RO" altLang="ro-R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https://www.ijimai.org/journal/sites/default/files/2022-09/ijimai7_6_4.pdf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o-RO" altLang="ro-RO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GeeksforGeeks.</a:t>
            </a:r>
            <a:br>
              <a:rPr kumimoji="0" lang="ro-RO" altLang="ro-R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o-RO" altLang="ro-RO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FaceNet – Using Facial Recognition System.</a:t>
            </a:r>
            <a:br>
              <a:rPr kumimoji="0" lang="ro-RO" altLang="ro-R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o-RO" altLang="ro-R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Articol tehnic online, actualizat 2024.</a:t>
            </a:r>
            <a:br>
              <a:rPr kumimoji="0" lang="ro-RO" altLang="ro-R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o-RO" altLang="ro-R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https://www.geeksforgeeks.org/facenet-using-facial-recognition-system/</a:t>
            </a:r>
            <a:endParaRPr kumimoji="0" lang="ro-RO" altLang="ro-RO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o-RO" altLang="ro-RO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OpenAI.</a:t>
            </a:r>
            <a:br>
              <a:rPr kumimoji="0" lang="ro-RO" altLang="ro-R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o-RO" altLang="ro-RO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ChatGPT</a:t>
            </a:r>
            <a:r>
              <a:rPr kumimoji="0" lang="ro-RO" altLang="ro-R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Instrument AI generativ utilizat pentru documentare, sinteză și redactarea textelor de prezentare.</a:t>
            </a:r>
            <a:br>
              <a:rPr kumimoji="0" lang="ro-RO" altLang="ro-R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o-RO" altLang="ro-R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"/>
              </a:rPr>
              <a:t>https://chat.openai.com</a:t>
            </a:r>
            <a:endParaRPr kumimoji="0" lang="ro-RO" altLang="ro-RO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532774"/>
      </p:ext>
    </p:extLst>
  </p:cSld>
  <p:clrMapOvr>
    <a:masterClrMapping/>
  </p:clrMapOvr>
</p:sld>
</file>

<file path=ppt/theme/theme1.xml><?xml version="1.0" encoding="utf-8"?>
<a:theme xmlns:a="http://schemas.openxmlformats.org/drawingml/2006/main" name="Lead Funnel by Slidesgo">
  <a:themeElements>
    <a:clrScheme name="Simple Light">
      <a:dk1>
        <a:srgbClr val="15110E"/>
      </a:dk1>
      <a:lt1>
        <a:srgbClr val="FFFAF6"/>
      </a:lt1>
      <a:dk2>
        <a:srgbClr val="C2E5F5"/>
      </a:dk2>
      <a:lt2>
        <a:srgbClr val="5296B8"/>
      </a:lt2>
      <a:accent1>
        <a:srgbClr val="13566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110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1419</Words>
  <Application>Microsoft Office PowerPoint</Application>
  <PresentationFormat>On-screen Show (16:9)</PresentationFormat>
  <Paragraphs>147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Albert Sans</vt:lpstr>
      <vt:lpstr>Alexandria Medium</vt:lpstr>
      <vt:lpstr>Lead Funnel by Slidesgo</vt:lpstr>
      <vt:lpstr>Sistem AI de analiză automată a prezenței studenților pe bază de recunoaștere facială</vt:lpstr>
      <vt:lpstr>01</vt:lpstr>
      <vt:lpstr>Introducere și motivație</vt:lpstr>
      <vt:lpstr>Domeniul industrial și studiul de caz</vt:lpstr>
      <vt:lpstr>Provocări actuale și nevoi identificate</vt:lpstr>
      <vt:lpstr>Prezentarea sistemului AI propus</vt:lpstr>
      <vt:lpstr>Arhitectura sistemului</vt:lpstr>
      <vt:lpstr>Arhitectura sistemului</vt:lpstr>
      <vt:lpstr>Fluxul de date și tehnologiile utilizate</vt:lpstr>
      <vt:lpstr>Beneficii, rezultate și direcții viitoare</vt:lpstr>
      <vt:lpstr>Beneficii, rezultate și direcții viitoare</vt:lpstr>
      <vt:lpstr>Surse bibliografice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Teddy B</dc:creator>
  <cp:lastModifiedBy>Teddy B</cp:lastModifiedBy>
  <cp:revision>1</cp:revision>
  <dcterms:modified xsi:type="dcterms:W3CDTF">2025-11-06T07:32:23Z</dcterms:modified>
</cp:coreProperties>
</file>